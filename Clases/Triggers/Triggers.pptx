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3EDF3-1EAD-4B95-AFF9-D0AB9E306853}" v="9" dt="2026-03-09T20:39:02.49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46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D7406EE-1E5E-4394-B508-934A428A455A}" type="datetime1">
              <a:rPr lang="es-ES" smtClean="0"/>
              <a:t>26/05/2026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AFF3A6F-DEFA-45E0-9496-BEE7C2C6F3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20ADD3C-FF21-4216-9D7A-8A22E020B1F0}" type="datetime1">
              <a:rPr lang="es-ES" smtClean="0"/>
              <a:t>26/05/2026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97DC217-DF71-1A49-B3EA-559F1F43B0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es-ES" sz="32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es-ES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es-ES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e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es-ES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izar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es-ES" sz="28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 anchor="b">
            <a:normAutofit/>
          </a:bodyPr>
          <a:lstStyle/>
          <a:p>
            <a:pPr>
              <a:defRPr sz="2600" b="1"/>
            </a:pPr>
            <a:r>
              <a:rPr lang="es-MX" sz="2600" dirty="0"/>
              <a:t>IF-5100 Administración de bases de datos</a:t>
            </a:r>
          </a:p>
          <a:p>
            <a:pPr>
              <a:defRPr sz="2600" b="1"/>
            </a:pPr>
            <a:r>
              <a:rPr lang="es-MX" sz="2600" dirty="0" err="1"/>
              <a:t>Triggers</a:t>
            </a:r>
            <a:r>
              <a:rPr lang="es-MX" sz="2600" dirty="0"/>
              <a:t> en Bases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5943598" y="3657600"/>
            <a:ext cx="5120640" cy="1828800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s-MX" sz="1800" dirty="0"/>
              <a:t>Informática Empresarial</a:t>
            </a:r>
          </a:p>
          <a:p>
            <a:pPr>
              <a:defRPr sz="1800"/>
            </a:pPr>
            <a:r>
              <a:rPr lang="es-MX" sz="1800" dirty="0"/>
              <a:t>Clase sobre automatización y auditoría en SQL Server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F25FEDE-3577-8836-73F1-675E3CAB8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238" y="1167543"/>
            <a:ext cx="4500562" cy="4500562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t>¿Qué es un trigger?</a:t>
            </a:r>
          </a:p>
          <a:p>
            <a:pPr>
              <a:defRPr sz="1800"/>
            </a:pPr>
            <a:r>
              <a:t>Objetivos de los triggers</a:t>
            </a:r>
          </a:p>
          <a:p>
            <a:pPr>
              <a:defRPr sz="1800"/>
            </a:pPr>
            <a:r>
              <a:t>Tipos de triggers</a:t>
            </a:r>
          </a:p>
          <a:p>
            <a:pPr>
              <a:defRPr sz="1800"/>
            </a:pPr>
            <a:r>
              <a:t>Eventos que activan triggers</a:t>
            </a:r>
          </a:p>
          <a:p>
            <a:pPr>
              <a:defRPr sz="1800"/>
            </a:pPr>
            <a:r>
              <a:t>Sintaxis</a:t>
            </a:r>
          </a:p>
          <a:p>
            <a:pPr>
              <a:defRPr sz="1800"/>
            </a:pPr>
            <a:r>
              <a:t>Tablas inserted y deleted</a:t>
            </a:r>
          </a:p>
          <a:p>
            <a:pPr>
              <a:defRPr sz="1800"/>
            </a:pPr>
            <a:r>
              <a:t>Ejemplos prácticos</a:t>
            </a:r>
          </a:p>
          <a:p>
            <a:pPr>
              <a:defRPr sz="1800"/>
            </a:pPr>
            <a:r>
              <a:t>Ventajas y desventajas</a:t>
            </a:r>
          </a:p>
          <a:p>
            <a:pPr>
              <a:defRPr sz="1800"/>
            </a:pPr>
            <a:r>
              <a:t>Buenas prácticas</a:t>
            </a:r>
          </a:p>
          <a:p>
            <a:pPr>
              <a:defRPr sz="1800"/>
            </a:pPr>
            <a:r>
              <a:t>Laboratorio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¿Qué es un Trigger?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 trigger es un procedimiento almacenado especial que se ejecuta automáticamente cuando ocurre un evento específico dentro de una base de datos.</a:t>
            </a:r>
          </a:p>
          <a:p>
            <a:pPr>
              <a:defRPr sz="1800"/>
            </a:pPr>
            <a:r>
              <a:t>Se utilizan para automatizar tareas y garantizar reglas de negocio.</a:t>
            </a:r>
          </a:p>
          <a:p>
            <a:pPr>
              <a:defRPr sz="1800"/>
            </a:pPr>
            <a:r>
              <a:t>Funcionan como mecanismos automáticos de respuesta ante cambios en los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Objetivos de los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Automatizar procesos repetitivos.</a:t>
            </a:r>
          </a:p>
          <a:p>
            <a:pPr>
              <a:defRPr sz="1800"/>
            </a:pPr>
            <a:r>
              <a:t>Mantener la integridad de los datos.</a:t>
            </a:r>
          </a:p>
          <a:p>
            <a:pPr>
              <a:defRPr sz="1800"/>
            </a:pPr>
            <a:r>
              <a:t>Aplicar reglas de negocio.</a:t>
            </a:r>
          </a:p>
          <a:p>
            <a:pPr>
              <a:defRPr sz="1800"/>
            </a:pPr>
            <a:r>
              <a:t>Registrar auditorías y bitácoras.</a:t>
            </a:r>
          </a:p>
          <a:p>
            <a:pPr>
              <a:defRPr sz="1800"/>
            </a:pPr>
            <a:r>
              <a:t>Validar información automáticamente.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Tipos de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AFTER Trigger: Se ejecuta después de una operación.</a:t>
            </a:r>
          </a:p>
          <a:p>
            <a:pPr>
              <a:defRPr sz="1800"/>
            </a:pPr>
            <a:r>
              <a:t>INSTEAD OF Trigger: Reemplaza la operación original.</a:t>
            </a:r>
          </a:p>
          <a:p>
            <a:pPr>
              <a:defRPr sz="1800"/>
            </a:pPr>
            <a:r>
              <a:t>DDL Trigger: Se ejecuta ante cambios estructurales.</a:t>
            </a:r>
          </a:p>
          <a:p>
            <a:pPr>
              <a:defRPr sz="1800"/>
            </a:pPr>
            <a:r>
              <a:t>LOGON Trigger: Responde al inicio de sesión.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Eventos que Activan un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INSERT: Inserción de registros.</a:t>
            </a:r>
          </a:p>
          <a:p>
            <a:pPr>
              <a:defRPr sz="1800"/>
            </a:pPr>
            <a:r>
              <a:t>UPDATE: Modificación de registros.</a:t>
            </a:r>
          </a:p>
          <a:p>
            <a:pPr>
              <a:defRPr sz="1800"/>
            </a:pPr>
            <a:r>
              <a:t>DELETE: Eliminación de registros.</a:t>
            </a:r>
          </a:p>
          <a:p>
            <a:pPr>
              <a:defRPr sz="1800"/>
            </a:pPr>
            <a:r>
              <a:t>CREATE, ALTER y DROP: Cambios en objetos de la base de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Sintaxis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 TRIGGER NombreTrigger</a:t>
            </a:r>
          </a:p>
          <a:p>
            <a:pPr>
              <a:defRPr sz="1800"/>
            </a:pPr>
            <a:r>
              <a:t>ON NombreTabla</a:t>
            </a:r>
          </a:p>
          <a:p>
            <a:pPr>
              <a:defRPr sz="1800"/>
            </a:pPr>
            <a:r>
              <a:t>AFTER INSERT, UPDATE, DELETE</a:t>
            </a:r>
          </a:p>
          <a:p>
            <a:pPr>
              <a:defRPr sz="1800"/>
            </a:pPr>
            <a:r>
              <a:t>AS</a:t>
            </a:r>
          </a:p>
          <a:p>
            <a:pPr>
              <a:defRPr sz="1800"/>
            </a:pPr>
            <a:r>
              <a:t>BEGIN</a:t>
            </a:r>
          </a:p>
          <a:p>
            <a:pPr>
              <a:defRPr sz="1800"/>
            </a:pPr>
            <a:r>
              <a:t>   -- Código SQL</a:t>
            </a:r>
          </a:p>
          <a:p>
            <a:pPr>
              <a:defRPr sz="1800"/>
            </a:pPr>
            <a: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Ejemplo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Escenario: Registrar automáticamente cuando se agregue un empleado.</a:t>
            </a:r>
          </a:p>
          <a:p>
            <a:pPr>
              <a:defRPr sz="1800"/>
            </a:pPr>
            <a:r>
              <a:t>El trigger se ejecutará después de un INSERT.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Código de 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CREATE TRIGGER </a:t>
            </a:r>
            <a:r>
              <a:rPr dirty="0" err="1"/>
              <a:t>TR_RegistroEmpleado</a:t>
            </a:r>
            <a:endParaRPr dirty="0"/>
          </a:p>
          <a:p>
            <a:pPr>
              <a:defRPr sz="1800"/>
            </a:pPr>
            <a:r>
              <a:rPr dirty="0"/>
              <a:t>ON Empleados</a:t>
            </a:r>
          </a:p>
          <a:p>
            <a:pPr>
              <a:defRPr sz="1800"/>
            </a:pPr>
            <a:r>
              <a:rPr dirty="0"/>
              <a:t>AFTER INSERT</a:t>
            </a:r>
          </a:p>
          <a:p>
            <a:pPr>
              <a:defRPr sz="1800"/>
            </a:pPr>
            <a:r>
              <a:rPr dirty="0"/>
              <a:t>AS</a:t>
            </a:r>
          </a:p>
          <a:p>
            <a:pPr>
              <a:defRPr sz="1800"/>
            </a:pPr>
            <a:r>
              <a:rPr dirty="0"/>
              <a:t>BEGIN</a:t>
            </a:r>
          </a:p>
          <a:p>
            <a:pPr>
              <a:defRPr sz="1800"/>
            </a:pPr>
            <a:r>
              <a:rPr dirty="0"/>
              <a:t>INSERT INTO </a:t>
            </a:r>
            <a:r>
              <a:rPr dirty="0" err="1"/>
              <a:t>Bitacora</a:t>
            </a:r>
            <a:r>
              <a:rPr dirty="0"/>
              <a:t>(Mensaje, Fecha)</a:t>
            </a:r>
          </a:p>
          <a:p>
            <a:pPr>
              <a:defRPr sz="1800"/>
            </a:pPr>
            <a:r>
              <a:rPr dirty="0"/>
              <a:t>SELECT 'Nuevo empleado agregado', GETDATE()</a:t>
            </a:r>
          </a:p>
          <a:p>
            <a:pPr>
              <a:defRPr sz="1800"/>
            </a:pPr>
            <a:r>
              <a:rPr dirty="0"/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Tablas inserted y deleted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inserted contiene los nuevos valores.</a:t>
            </a:r>
          </a:p>
          <a:p>
            <a:pPr>
              <a:defRPr sz="1800"/>
            </a:pPr>
            <a:r>
              <a:t>deleted contiene los valores anteriores.</a:t>
            </a:r>
          </a:p>
          <a:p>
            <a:pPr>
              <a:defRPr sz="1800"/>
            </a:pPr>
            <a:r>
              <a:t>Son tablas temporales disponibles dentro del trigger.</a:t>
            </a:r>
          </a:p>
          <a:p>
            <a:pPr>
              <a:defRPr sz="1800"/>
            </a:pPr>
            <a:r>
              <a:t>Permiten comparar cambios realizados.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Ejemplo con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Escenario: Auditar cambios salariales.</a:t>
            </a:r>
          </a:p>
          <a:p>
            <a:pPr>
              <a:defRPr sz="1800"/>
            </a:pPr>
            <a:r>
              <a:t>Comparar salario anterior y nuevo.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Código UPDATE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t>CREATE TRIGGER TR_CambioSalario</a:t>
            </a:r>
          </a:p>
          <a:p>
            <a:pPr>
              <a:defRPr sz="1800"/>
            </a:pPr>
            <a:r>
              <a:t>ON Empleados</a:t>
            </a:r>
          </a:p>
          <a:p>
            <a:pPr>
              <a:defRPr sz="1800"/>
            </a:pPr>
            <a:r>
              <a:t>AFTER UPDATE</a:t>
            </a:r>
          </a:p>
          <a:p>
            <a:pPr>
              <a:defRPr sz="1800"/>
            </a:pPr>
            <a:r>
              <a:t>AS</a:t>
            </a:r>
          </a:p>
          <a:p>
            <a:pPr>
              <a:defRPr sz="1800"/>
            </a:pPr>
            <a:r>
              <a:t>BEGIN</a:t>
            </a:r>
          </a:p>
          <a:p>
            <a:pPr>
              <a:defRPr sz="1800"/>
            </a:pPr>
            <a:r>
              <a:t>INSERT INTO AuditoriaSalarios</a:t>
            </a:r>
          </a:p>
          <a:p>
            <a:pPr>
              <a:defRPr sz="1800"/>
            </a:pPr>
            <a:r>
              <a:t>SELECT d.Nombre, d.Salario, i.Salario, GETDATE()</a:t>
            </a:r>
          </a:p>
          <a:p>
            <a:pPr>
              <a:defRPr sz="1800"/>
            </a:pPr>
            <a:r>
              <a:t>FROM deleted d</a:t>
            </a:r>
          </a:p>
          <a:p>
            <a:pPr>
              <a:defRPr sz="1800"/>
            </a:pPr>
            <a:r>
              <a:t>INNER JOIN inserted i ON d.EmpleadoID = i.EmpleadoID</a:t>
            </a:r>
          </a:p>
          <a:p>
            <a:pPr>
              <a:defRPr sz="1800"/>
            </a:pPr>
            <a:r>
              <a:t>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Ventajas de los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Automatización de procesos.</a:t>
            </a:r>
          </a:p>
          <a:p>
            <a:pPr>
              <a:defRPr sz="1800"/>
            </a:pPr>
            <a:r>
              <a:t>Auditoría automática.</a:t>
            </a:r>
          </a:p>
          <a:p>
            <a:pPr>
              <a:defRPr sz="1800"/>
            </a:pPr>
            <a:r>
              <a:t>Centralización de reglas de negocio.</a:t>
            </a:r>
          </a:p>
          <a:p>
            <a:pPr>
              <a:defRPr sz="1800"/>
            </a:pPr>
            <a:r>
              <a:t>Mayor integridad de datos.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Desventajas de los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Pueden afectar el rendimiento.</a:t>
            </a:r>
          </a:p>
          <a:p>
            <a:pPr>
              <a:defRPr sz="1800"/>
            </a:pPr>
            <a:r>
              <a:t>Complican el mantenimiento.</a:t>
            </a:r>
          </a:p>
          <a:p>
            <a:pPr>
              <a:defRPr sz="1800"/>
            </a:pPr>
            <a:r>
              <a:t>La lógica queda oculta.</a:t>
            </a:r>
          </a:p>
          <a:p>
            <a:pPr>
              <a:defRPr sz="1800"/>
            </a:pPr>
            <a:r>
              <a:t>Pueden causar recursividad.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Mantener triggers simples.</a:t>
            </a:r>
          </a:p>
          <a:p>
            <a:pPr>
              <a:defRPr sz="1800"/>
            </a:pPr>
            <a:r>
              <a:t>Documentar correctamente.</a:t>
            </a:r>
          </a:p>
          <a:p>
            <a:pPr>
              <a:defRPr sz="1800"/>
            </a:pPr>
            <a:r>
              <a:t>Evitar operaciones pesadas.</a:t>
            </a:r>
          </a:p>
          <a:p>
            <a:pPr>
              <a:defRPr sz="1800"/>
            </a:pPr>
            <a:r>
              <a:t>Controlar errores y recursividad.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Casos de Uso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Auditoría de usuarios.</a:t>
            </a:r>
          </a:p>
          <a:p>
            <a:pPr>
              <a:defRPr sz="1800"/>
            </a:pPr>
            <a:r>
              <a:t>Control de inventarios.</a:t>
            </a:r>
          </a:p>
          <a:p>
            <a:pPr>
              <a:defRPr sz="1800"/>
            </a:pPr>
            <a:r>
              <a:t>Historial de cambios.</a:t>
            </a:r>
          </a:p>
          <a:p>
            <a:pPr>
              <a:defRPr sz="1800"/>
            </a:pPr>
            <a:r>
              <a:t>Validaciones automáticas.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Laboratorio: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Objetivo: Crear </a:t>
            </a:r>
            <a:r>
              <a:rPr dirty="0" err="1"/>
              <a:t>triggers</a:t>
            </a:r>
            <a:r>
              <a:rPr dirty="0"/>
              <a:t> para auditoría automática.</a:t>
            </a:r>
          </a:p>
          <a:p>
            <a:pPr>
              <a:defRPr sz="1800"/>
            </a:pPr>
            <a:r>
              <a:rPr dirty="0"/>
              <a:t>Escenario: Sistema de ventas.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Paso 1: Crear Tablas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Tabla Clientes.</a:t>
            </a:r>
          </a:p>
          <a:p>
            <a:pPr>
              <a:defRPr sz="1800"/>
            </a:pPr>
            <a:r>
              <a:rPr dirty="0"/>
              <a:t>Tabla </a:t>
            </a:r>
            <a:r>
              <a:rPr dirty="0" err="1"/>
              <a:t>BitacoraEventos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Registrar información automáticamente.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Código del Laboratorio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CREATE TRIGGER </a:t>
            </a:r>
            <a:r>
              <a:rPr dirty="0" err="1"/>
              <a:t>TR_AuditoriaClientes</a:t>
            </a:r>
            <a:endParaRPr dirty="0"/>
          </a:p>
          <a:p>
            <a:pPr>
              <a:defRPr sz="1800"/>
            </a:pPr>
            <a:r>
              <a:rPr dirty="0"/>
              <a:t>ON Ventas</a:t>
            </a:r>
          </a:p>
          <a:p>
            <a:pPr>
              <a:defRPr sz="1800"/>
            </a:pPr>
            <a:r>
              <a:rPr dirty="0"/>
              <a:t>AFTER INSERT</a:t>
            </a:r>
          </a:p>
          <a:p>
            <a:pPr>
              <a:defRPr sz="1800"/>
            </a:pPr>
            <a:r>
              <a:rPr dirty="0"/>
              <a:t>AS</a:t>
            </a:r>
          </a:p>
          <a:p>
            <a:pPr>
              <a:defRPr sz="1800"/>
            </a:pPr>
            <a:r>
              <a:rPr dirty="0"/>
              <a:t>BEGIN</a:t>
            </a:r>
          </a:p>
          <a:p>
            <a:pPr>
              <a:defRPr sz="1800"/>
            </a:pPr>
            <a:r>
              <a:rPr dirty="0"/>
              <a:t>INSERT INTO </a:t>
            </a:r>
            <a:r>
              <a:rPr dirty="0" err="1"/>
              <a:t>BitacoraEventos</a:t>
            </a:r>
            <a:r>
              <a:rPr dirty="0"/>
              <a:t>(Mensaje, </a:t>
            </a:r>
            <a:r>
              <a:rPr dirty="0" err="1"/>
              <a:t>FechaRegistro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/>
              <a:t>SELECT CONCAT('Nueva venta registrada para cliente: ', Cliente), GETDATE()</a:t>
            </a:r>
          </a:p>
          <a:p>
            <a:pPr>
              <a:defRPr sz="1800"/>
            </a:pPr>
            <a:r>
              <a:rPr dirty="0"/>
              <a:t>FROM </a:t>
            </a:r>
            <a:r>
              <a:rPr dirty="0" err="1"/>
              <a:t>inserted</a:t>
            </a:r>
            <a:endParaRPr dirty="0"/>
          </a:p>
          <a:p>
            <a:pPr>
              <a:defRPr sz="1800"/>
            </a:pPr>
            <a:r>
              <a:rPr dirty="0"/>
              <a:t>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Paso 2: Probar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R" dirty="0"/>
              <a:t>INSERT INTO [</a:t>
            </a:r>
            <a:r>
              <a:rPr lang="es-CR" dirty="0" err="1"/>
              <a:t>dbo</a:t>
            </a:r>
            <a:r>
              <a:rPr lang="es-CR" dirty="0"/>
              <a:t>].[CLIENTES]</a:t>
            </a:r>
          </a:p>
          <a:p>
            <a:r>
              <a:rPr lang="es-CR" dirty="0"/>
              <a:t>           ([NOMBRE]</a:t>
            </a:r>
          </a:p>
          <a:p>
            <a:r>
              <a:rPr lang="es-CR" dirty="0"/>
              <a:t>           ,[CIUDAD]</a:t>
            </a:r>
          </a:p>
          <a:p>
            <a:r>
              <a:rPr lang="es-CR" dirty="0"/>
              <a:t>           ,[ESTADO])</a:t>
            </a:r>
          </a:p>
          <a:p>
            <a:r>
              <a:rPr lang="es-CR" dirty="0"/>
              <a:t>     VALUES</a:t>
            </a:r>
          </a:p>
          <a:p>
            <a:r>
              <a:rPr lang="es-CR" dirty="0"/>
              <a:t>           (‘</a:t>
            </a:r>
            <a:r>
              <a:rPr lang="es-CR" dirty="0" err="1"/>
              <a:t>Josue</a:t>
            </a:r>
            <a:r>
              <a:rPr lang="es-CR" dirty="0"/>
              <a:t> Quesada’</a:t>
            </a:r>
          </a:p>
          <a:p>
            <a:r>
              <a:rPr lang="es-CR" dirty="0"/>
              <a:t>           ,’San Ramon’ ,1)</a:t>
            </a:r>
          </a:p>
          <a:p>
            <a:endParaRPr lang="es-CR" dirty="0"/>
          </a:p>
          <a:p>
            <a:r>
              <a:rPr lang="es-CR" dirty="0"/>
              <a:t>Insertar tabla de </a:t>
            </a:r>
            <a:r>
              <a:rPr lang="es-CR" dirty="0" err="1"/>
              <a:t>BitacoraEventos</a:t>
            </a:r>
            <a:endParaRPr lang="es-C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Ejercicio para Estudiantes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Crear un </a:t>
            </a:r>
            <a:r>
              <a:rPr dirty="0" err="1"/>
              <a:t>trigger</a:t>
            </a:r>
            <a:r>
              <a:rPr dirty="0"/>
              <a:t> que registre los </a:t>
            </a:r>
            <a:r>
              <a:rPr dirty="0" err="1"/>
              <a:t>inserts</a:t>
            </a:r>
            <a:r>
              <a:rPr dirty="0"/>
              <a:t> de cada una de las tabla del sistema de ventas.</a:t>
            </a:r>
          </a:p>
          <a:p>
            <a:pPr>
              <a:defRPr sz="1800"/>
            </a:pPr>
            <a:r>
              <a:rPr dirty="0"/>
              <a:t>Guardar nombre del producto eliminado.</a:t>
            </a:r>
          </a:p>
          <a:p>
            <a:pPr>
              <a:defRPr sz="1800"/>
            </a:pPr>
            <a:r>
              <a:rPr dirty="0"/>
              <a:t>Guardar fecha de eliminación.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Resumen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Los triggers permiten automatizar tareas.</a:t>
            </a:r>
          </a:p>
          <a:p>
            <a:pPr>
              <a:defRPr sz="1800"/>
            </a:pPr>
            <a:r>
              <a:t>Ayudan a mantener integridad y auditoría.</a:t>
            </a:r>
          </a:p>
          <a:p>
            <a:pPr>
              <a:defRPr sz="1800"/>
            </a:pPr>
            <a:r>
              <a:t>Son herramientas muy poderosas dentro de SQL Server.</a:t>
            </a:r>
          </a:p>
          <a:p>
            <a:pPr>
              <a:defRPr sz="1800"/>
            </a:pPr>
            <a:r>
              <a:t>Deben utilizarse responsablemente.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¡Muchas Gracias!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“La automatización eficiente mejora la confiabilidad de los sistemas.”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20_TF45331398_Win32" id="{C0135C28-68A3-40E4-BC16-4AD80F3EE0C9}" vid="{17F0BC35-05E6-4450-B170-6A0CA2A0F3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universal</Template>
  <TotalTime>142</TotalTime>
  <Words>644</Words>
  <Application>Microsoft Office PowerPoint</Application>
  <PresentationFormat>Panorámica</PresentationFormat>
  <Paragraphs>132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Tenorite</vt:lpstr>
      <vt:lpstr>Personalizar</vt:lpstr>
      <vt:lpstr>IF-5100 Administración de bases de datos Triggers en Bases de Datos</vt:lpstr>
      <vt:lpstr>Agenda</vt:lpstr>
      <vt:lpstr>¿Qué es un Trigger?</vt:lpstr>
      <vt:lpstr>Objetivos de los Triggers</vt:lpstr>
      <vt:lpstr>Tipos de Triggers</vt:lpstr>
      <vt:lpstr>Eventos que Activan un Trigger</vt:lpstr>
      <vt:lpstr>Sintaxis General</vt:lpstr>
      <vt:lpstr>Ejemplo Básico</vt:lpstr>
      <vt:lpstr>Código de Ejemplo</vt:lpstr>
      <vt:lpstr>Tablas inserted y deleted</vt:lpstr>
      <vt:lpstr>Ejemplo con UPDATE</vt:lpstr>
      <vt:lpstr>Código UPDATE Trigger</vt:lpstr>
      <vt:lpstr>Ventajas de los Triggers</vt:lpstr>
      <vt:lpstr>Desventajas de los Triggers</vt:lpstr>
      <vt:lpstr>Buenas Prácticas</vt:lpstr>
      <vt:lpstr>Casos de Uso Reales</vt:lpstr>
      <vt:lpstr>Laboratorio: Triggers</vt:lpstr>
      <vt:lpstr>Paso 1: Crear Tablas</vt:lpstr>
      <vt:lpstr>Código del Laboratorio</vt:lpstr>
      <vt:lpstr>Paso 2: Probar Trigger</vt:lpstr>
      <vt:lpstr>Ejercicio para Estudiantes</vt:lpstr>
      <vt:lpstr>Resumen General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QUESADA CASTILLO RANDALL JOSUE</dc:creator>
  <cp:lastModifiedBy>QUESADA CASTILLO RANDALL JOSUE</cp:lastModifiedBy>
  <cp:revision>2</cp:revision>
  <dcterms:created xsi:type="dcterms:W3CDTF">2026-03-09T18:31:26Z</dcterms:created>
  <dcterms:modified xsi:type="dcterms:W3CDTF">2026-05-26T19:38:20Z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